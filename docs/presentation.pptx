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01/10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GlucoTwin AI: Time-Series Digital Twin for Glucose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Unstop Digital Twin Challenge 2026 | Comprehensive Proof of Concept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Project Mission: Develop an educational physiological digital twin predicting glucose trends 2 hours ahead.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Core Paradigm: Continuously updates virtual patient state using time-series sensor data &amp; contextual events.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Honest Science: Compares trained ML models against simple persistence baselines with zero future data leakage.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Regulatory Status: Purely educational and research demonstration. Not a medical device. Non-diagnostic.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02/10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Clinical Need &amp; The Glycemic Forecasting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Beyond Reactive Continuous Glucose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Glycemic Volatility: Diabetes affects over 530 million adults globally; postprandial spikes and nocturnal hypoglycemia pose acute risks.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Lagged Observation: Standard CGMs present reactive snapshots with 10-15 minute interstitial physiological delays.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The Need for Forward Horizon: A 2-hour (120-minute) predictive horizon allows anticipatory lifestyle adjustments.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Digital Twin Potential: A software twin maintains memory of recent carbohydrates, exertion, and circadian rhythms.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03/10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The GlucoTwin AI Solution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Closed-Loop Virtual Metabolic Avatar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Virtual Twin Synchronization: Ingests 5-minute telemetry ticks into an in-memory sliding window state buffer.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Multi-Modal Context Integration: Blends glucose values with heart rate, physical activity index, meal carbs, and sleep.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Defensible Uncertainty: Inter-tree variance delivers calibrated 95% confidence bounds rather than fabricated certainty.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Transparent Simulation Controls: Provides real-time streaming, pause, step (+5m/+30m), reset, and what-if sandbox.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04/10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Healthcare Use Case &amp; Regulatory Non-Diagnostic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Safety-by-Design &amp; Clear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Target Use Case: Research testbed, metabolic education, and simulation environment for digital health researchers.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Strict Safety Boundaries: Does NOT provide insulin dose titration, medical diagnosis, or emergency intervention.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Regulatory Scope: Clarified as non-SaMD (Software as a Medical Device) under FDA 21 CFR 860 and EU MDR Annex VIII.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Patient Privacy: Zero collection of Protected Health Information (PHI); utilizes strictly synthetic, de-identified identities.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05/10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End-to-End Four-Tier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From Deterministic Physics to Interactive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Tier 1 - Telemetry Engine: Deterministic synthetic generator modeling digestion curves and homeostatic drift.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Tier 2 - Feature Engineering: 23 backward-looking features including multi-step lags, rolling statistics, and harmonics.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Tier 3 - ML Ensemble: 150-tree Random Forest optimized for 24-step (120 min) horizon with uncertainty estimation.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Tier 4 - Delivery: FastAPI REST services (/api/v1/...) paired with React 18, TypeScript, Tailwind CSS, and Recharts.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06/10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Synthetic Physiological Dataset &amp; Generation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Biologically Grounded Time-Series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Sampling Frequency: Exactly 5-minute ticks across 5,500 sequential observations (multi-week synthetic trial).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Gastric Emptying Delay: Exponential convolution of meal carbohydrate events simulating gradual digestive absorption.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Activity &amp; Uptake: Physical exertion modulates insulin sensitivity and accelerates muscular glucose uptake.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Heart Rate &amp; Circadian Dynamics: Correlated cardiovascular response and sinusoidal diurnal baseline shifts.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07/10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Feature Engineering &amp; Zero Data Leakage Guarantee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Rigorous Time-Series Feature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Chronological Sequence: Temporal sorting enforced; past observations strictly segregated from future targets.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Lag Operators: Lag 1 (5m), Lag 2 (10m), Lag 3 (15m), Lag 6 (30m), Lag 12 (1h), and Lag 24 (2h).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First Derivatives: Glycemic velocity calculated over 15-minute and 30-minute backward intervals (mg/dL/min).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Cyclical Harmonic Encoding: Sine and cosine hour representations preserve continuity across midnight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08/10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Machine Learning Ensemble &amp; 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Ensemble Variance for Defensible Confidence Intervals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Model Architecture: RandomForestRegressor (150 estimators, max_depth=14, min_samples_split=4).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2-Hour Target Formulation: Precisely y(t+24), forecasting glucose exactly 120 minutes ahead.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Defensible Uncertainty: Computes empirical variance across all 150 individual decision tree estimates.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95% Prediction Interval: [y_hat - 1.96*sigma, y_hat + 1.96*sigma] dynamically rendered on telemetry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09/10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Empirical Evaluation vs. Persistence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Honest Metric Reporting on 1,091 Chronological Test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Trained Model MAE: 5.260 mg/dL (vs. Persistence: 48.711 mg/dL — +89.2% improvement).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Trained Model RMSE: 7.160 mg/dL (vs. Persistence: 59.482 mg/dL — +88.0% improvement).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Why Persistence Fails at 2h: Glycemic states experience substantial movement over 120m due to meals and activity.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Top Feature Importance: Circadian harmonics (cos_hour: 56.2%), current glucose (11.5%), and lag-1 (8.4%) dominate.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SLIDE 10/10 • GLUCOTWIN AI — UNSTOP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C4A6E"/>
                </a:solidFill>
                <a:latin typeface="Arial"/>
              </a:defRPr>
            </a:pPr>
            <a:r>
              <a:t>Interactive What-If Sandbox,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Next Steps for Digital Twin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What-If Sandbox: Sliders for meal carbs and physical activity project immediate hypothetical 2-hour deviations.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Identified Limitations: Evaluated on synthetic sequences; real patients exhibit variable insulin sensitivity and illness.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Clinical Translation Roadmap: Ingest licensed real-world datasets (OhioT1DM / D1NAMO) and add LSTM/Transformer models.</a:t>
            </a:r>
          </a:p>
          <a:p>
            <a:pPr>
              <a:spcAft>
                <a:spcPts val="14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 Summary: Fully runnable, documented, test-verified end-to-end digital twin prototype for Unstop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Educational Prototype • Not a Medical Device • MIT License • https://github.com/tharundev-123/GlucoTwin_AI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